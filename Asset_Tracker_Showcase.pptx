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71717A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AFAFA"/>
                      </a:solidFill>
                      <a:latin typeface="Consola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AFAFA"/>
                      </a:solidFill>
                      <a:latin typeface="Consola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AFAFA"/>
                      </a:solidFill>
                      <a:latin typeface="Consola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Available</c:v>
                </c:pt>
                <c:pt idx="1">
                  <c:v>Loaned</c:v>
                </c:pt>
                <c:pt idx="2">
                  <c:v>Maintenance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42</c:v>
                </c:pt>
                <c:pt idx="1">
                  <c:v>7</c:v>
                </c:pt>
                <c:pt idx="2">
                  <c:v>2</c:v>
                </c:pt>
              </c:numCache>
            </c:numRef>
          </c:val>
        </c:ser>
        <c:firstSliceAng val="0"/>
        <c:holeSize val="60"/>
      </c:doughnutChart>
      <c:spPr>
        <a:solidFill>
          <a:srgbClr val="111114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8A8A93"/>
              </a:solidFill>
              <a:latin typeface="Consolas"/>
              <a:cs typeface="Consolas"/>
            </a:defRPr>
          </a:pPr>
          <a:endParaRPr lang="en-US"/>
        </a:p>
      </c:txPr>
    </c:legend>
    <c:plotVisOnly val="1"/>
    <c:dispBlanksAs val="span"/>
  </c:chart>
  <c:spPr>
    <a:solidFill>
      <a:srgbClr val="11111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Checkouts</c:v>
                </c:pt>
              </c:strCache>
            </c:strRef>
          </c:tx>
          <c:spPr>
            <a:solidFill>
              <a:srgbClr val="60A5FA"/>
            </a:solidFill>
            <a:ln w="31750" cap="flat">
              <a:solidFill>
                <a:srgbClr val="60A5F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0A5FA"/>
              </a:solidFill>
              <a:ln w="9525" cap="flat">
                <a:solidFill>
                  <a:srgbClr val="60A5F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D-13</c:v>
                  </c:pt>
                  <c:pt idx="1">
                    <c:v>D-12</c:v>
                  </c:pt>
                  <c:pt idx="2">
                    <c:v>D-11</c:v>
                  </c:pt>
                  <c:pt idx="3">
                    <c:v>D-10</c:v>
                  </c:pt>
                  <c:pt idx="4">
                    <c:v>D-9</c:v>
                  </c:pt>
                  <c:pt idx="5">
                    <c:v>D-8</c:v>
                  </c:pt>
                  <c:pt idx="6">
                    <c:v>D-7</c:v>
                  </c:pt>
                  <c:pt idx="7">
                    <c:v>D-6</c:v>
                  </c:pt>
                  <c:pt idx="8">
                    <c:v>D-5</c:v>
                  </c:pt>
                  <c:pt idx="9">
                    <c:v>D-4</c:v>
                  </c:pt>
                  <c:pt idx="10">
                    <c:v>D-3</c:v>
                  </c:pt>
                  <c:pt idx="11">
                    <c:v>D-2</c:v>
                  </c:pt>
                  <c:pt idx="12">
                    <c:v>D-1</c:v>
                  </c:pt>
                  <c:pt idx="13">
                    <c:v>Today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</c:v>
                </c:pt>
                <c:pt idx="1">
                  <c:v>5</c:v>
                </c:pt>
                <c:pt idx="2">
                  <c:v>2</c:v>
                </c:pt>
                <c:pt idx="3">
                  <c:v>6</c:v>
                </c:pt>
                <c:pt idx="4">
                  <c:v>4</c:v>
                </c:pt>
                <c:pt idx="5">
                  <c:v>7</c:v>
                </c:pt>
                <c:pt idx="6">
                  <c:v>5</c:v>
                </c:pt>
                <c:pt idx="7">
                  <c:v>8</c:v>
                </c:pt>
                <c:pt idx="8">
                  <c:v>6</c:v>
                </c:pt>
                <c:pt idx="9">
                  <c:v>9</c:v>
                </c:pt>
                <c:pt idx="10">
                  <c:v>7</c:v>
                </c:pt>
                <c:pt idx="11">
                  <c:v>11</c:v>
                </c:pt>
                <c:pt idx="12">
                  <c:v>8</c:v>
                </c:pt>
                <c:pt idx="13">
                  <c:v>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8A93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627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8A93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114"/>
        </a:solidFill>
        <a:ln>
          <a:noFill/>
        </a:ln>
        <a:effectLst/>
      </c:spPr>
    </c:plotArea>
    <c:plotVisOnly val="1"/>
    <c:dispBlanksAs val="span"/>
  </c:chart>
  <c:spPr>
    <a:solidFill>
      <a:srgbClr val="1111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3840480"/>
            <a:ext cx="5943600" cy="594360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389120"/>
            <a:ext cx="4572000" cy="45720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solidFill>
            <a:srgbClr val="1E3A8A">
              <a:alpha val="25000"/>
            </a:srgbClr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4604" y="668884"/>
            <a:ext cx="170993" cy="170993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502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0" y="640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v0.1 · portfolio build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project.showcase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spc="-200" kern="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Tracker.</a:t>
            </a:r>
            <a:endParaRPr lang="en-US" sz="90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check-in / check-out for the tools, gear and gadgets your team actually shares.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5212080"/>
            <a:ext cx="2011680" cy="384048"/>
          </a:xfrm>
          <a:prstGeom prst="rect">
            <a:avLst/>
          </a:prstGeom>
          <a:solidFill>
            <a:srgbClr val="16161A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534924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521208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pPr indent="0" marL="0">
              <a:buNone/>
            </a:pPr>
            <a:r>
              <a:rPr lang="en-US" sz="900" spc="300" kern="0" dirty="0">
                <a:solidFill>
                  <a:srgbClr val="8A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AVAILABLE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51760" y="5212080"/>
            <a:ext cx="2011680" cy="384048"/>
          </a:xfrm>
          <a:prstGeom prst="rect">
            <a:avLst/>
          </a:prstGeom>
          <a:solidFill>
            <a:srgbClr val="16161A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61488" y="534924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44368" y="521208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buNone/>
            </a:pPr>
            <a:r>
              <a:rPr lang="en-US" sz="900" spc="300" kern="0" dirty="0">
                <a:solidFill>
                  <a:srgbClr val="8A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LOANED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5212080"/>
            <a:ext cx="2011680" cy="384048"/>
          </a:xfrm>
          <a:prstGeom prst="rect">
            <a:avLst/>
          </a:prstGeom>
          <a:solidFill>
            <a:srgbClr val="16161A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64608" y="5349240"/>
            <a:ext cx="109728" cy="109728"/>
          </a:xfrm>
          <a:prstGeom prst="ellipse">
            <a:avLst/>
          </a:prstGeom>
          <a:solidFill>
            <a:srgbClr val="71717A"/>
          </a:solidFill>
          <a:ln w="12700">
            <a:solidFill>
              <a:srgbClr val="7171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47488" y="521208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900" spc="300" kern="0" dirty="0">
                <a:solidFill>
                  <a:srgbClr val="8A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MAINTENANCE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0" y="5212080"/>
            <a:ext cx="2011680" cy="384048"/>
          </a:xfrm>
          <a:prstGeom prst="rect">
            <a:avLst/>
          </a:prstGeom>
          <a:solidFill>
            <a:srgbClr val="16161A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67728" y="534924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0608" y="521208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900" spc="300" kern="0" dirty="0">
                <a:solidFill>
                  <a:srgbClr val="8A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OVERDUE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5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WITH </a:t>
            </a:r>
            <a:pPr indent="0" marL="0">
              <a:buNone/>
            </a:pPr>
            <a:r>
              <a:rPr lang="en-US" sz="900" dirty="0">
                <a:solidFill>
                  <a:srgbClr val="8A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16  ·  React 19  ·  Prisma 7  ·  SQLite  ·  Tailwind v4  ·  Recharts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0" y="64922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5A5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kash_1749@hotmail.com  ·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20040" cy="320040"/>
          </a:xfrm>
          <a:prstGeom prst="rect">
            <a:avLst/>
          </a:prstGeom>
          <a:solidFill>
            <a:srgbClr val="1E3A8A">
              <a:alpha val="25000"/>
            </a:srgbClr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2813" y="471373"/>
            <a:ext cx="108814" cy="10881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the problem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the drill go?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6350">
            <a:solidFill>
              <a:srgbClr val="2627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A5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asset-tracker · portfolio showcase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9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Workshops, maker spaces and small teams share dozens of expensive tools across a handful of people. Spreadsheets get stale, sticky notes vanish, and “I thought you had it” becomes the daily standup.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7920" y="2103120"/>
            <a:ext cx="5486400" cy="1143000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2103120"/>
            <a:ext cx="54864" cy="1143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2677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92240" y="24871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&amp; stale inventory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28529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knows what’s in the cabinet vs. someone’s truck.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429000"/>
            <a:ext cx="5486400" cy="1143000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3429000"/>
            <a:ext cx="54864" cy="1143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593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accountability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92240" y="38130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has it right now?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41788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saw goes missing, the trail goes cold.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4754880"/>
            <a:ext cx="5486400" cy="1143000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4754880"/>
            <a:ext cx="54864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919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overdue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92240" y="51389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overdues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92240" y="55046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sit out for weeks before anyone notices.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-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9600" dirty="0"/>
          </a:p>
        </p:txBody>
      </p:sp>
      <p:sp>
        <p:nvSpPr>
          <p:cNvPr id="27" name="Text 25"/>
          <p:cNvSpPr/>
          <p:nvPr/>
        </p:nvSpPr>
        <p:spPr>
          <a:xfrm>
            <a:off x="457200" y="5989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 small workshops still track shared tools on paper or spreadsheets.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20040" cy="320040"/>
          </a:xfrm>
          <a:prstGeom prst="rect">
            <a:avLst/>
          </a:prstGeom>
          <a:solidFill>
            <a:srgbClr val="1E3A8A">
              <a:alpha val="25000"/>
            </a:srgbClr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2813" y="471373"/>
            <a:ext cx="108814" cy="10881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what it does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things, done well.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6350">
            <a:solidFill>
              <a:srgbClr val="2627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A5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asset-tracker · portfolio showcase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3596640" cy="1691640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395728"/>
            <a:ext cx="502920" cy="502920"/>
          </a:xfrm>
          <a:prstGeom prst="rect">
            <a:avLst/>
          </a:prstGeom>
          <a:solidFill>
            <a:srgbClr val="3B82F6">
              <a:alpha val="1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6404" y="2564892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2432304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17320" y="2651760"/>
            <a:ext cx="249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tool catalog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3063240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categories, locations and live status badges across every item.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82440" y="2103120"/>
            <a:ext cx="3596640" cy="1691640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02480" y="2395728"/>
            <a:ext cx="502920" cy="502920"/>
          </a:xfrm>
          <a:prstGeom prst="rect">
            <a:avLst/>
          </a:prstGeom>
          <a:solidFill>
            <a:srgbClr val="60A5FA">
              <a:alpha val="18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71644" y="2564892"/>
            <a:ext cx="164592" cy="16459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2560" y="2432304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scan.qr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42560" y="2651760"/>
            <a:ext cx="249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Phone-camera scan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02480" y="3063240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 QR sticker, point a phone, jump to that tool’s page instantly.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07680" y="2103120"/>
            <a:ext cx="3596640" cy="1691640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27720" y="2395728"/>
            <a:ext cx="502920" cy="502920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96884" y="256489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7800" y="2432304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067800" y="2651760"/>
            <a:ext cx="249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check-out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27720" y="3063240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member, add a note, hit borrow. Returns capture damage + condition.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3596640" cy="1691640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4315968"/>
            <a:ext cx="502920" cy="502920"/>
          </a:xfrm>
          <a:prstGeom prst="rect">
            <a:avLst/>
          </a:prstGeom>
          <a:solidFill>
            <a:srgbClr val="EF4444">
              <a:alpha val="1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6404" y="4485132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17320" y="4352544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overdue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417320" y="4572000"/>
            <a:ext cx="249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radar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77240" y="4983480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out longer than the cutoff lights up red across the app.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282440" y="4023360"/>
            <a:ext cx="3596640" cy="1691640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02480" y="4315968"/>
            <a:ext cx="502920" cy="502920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71644" y="448513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42560" y="4352544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insights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242560" y="4572000"/>
            <a:ext cx="249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&amp; loan analytics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602480" y="4983480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status donut, category stack, daily activity and top borrowers.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107680" y="4023360"/>
            <a:ext cx="3596640" cy="1691640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27720" y="4315968"/>
            <a:ext cx="502920" cy="502920"/>
          </a:xfrm>
          <a:prstGeom prst="rect">
            <a:avLst/>
          </a:prstGeom>
          <a:solidFill>
            <a:srgbClr val="71717A">
              <a:alpha val="18000"/>
            </a:srgbClr>
          </a:solidFill>
          <a:ln w="12700">
            <a:solidFill>
              <a:srgbClr val="71717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96884" y="4485132"/>
            <a:ext cx="164592" cy="164592"/>
          </a:xfrm>
          <a:prstGeom prst="ellipse">
            <a:avLst/>
          </a:prstGeom>
          <a:solidFill>
            <a:srgbClr val="71717A"/>
          </a:solidFill>
          <a:ln w="12700">
            <a:solidFill>
              <a:srgbClr val="71717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67800" y="4352544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067800" y="4572000"/>
            <a:ext cx="249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members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427720" y="4983480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 ceremony — just a member picker and a cookie. Friction-free.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20040" cy="320040"/>
          </a:xfrm>
          <a:prstGeom prst="rect">
            <a:avLst/>
          </a:prstGeom>
          <a:solidFill>
            <a:srgbClr val="1E3A8A">
              <a:alpha val="25000"/>
            </a:srgbClr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2813" y="471373"/>
            <a:ext cx="108814" cy="10881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user flow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→ return, in four taps.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6350">
            <a:solidFill>
              <a:srgbClr val="2627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A5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asset-tracker · portfolio showcase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2560320" cy="2377440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06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-2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step.1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3867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4251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camera at the QR sticker on the tool.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127248" y="3611880"/>
            <a:ext cx="237744" cy="0"/>
          </a:xfrm>
          <a:prstGeom prst="line">
            <a:avLst/>
          </a:prstGeom>
          <a:noFill/>
          <a:ln w="12700">
            <a:solidFill>
              <a:srgbClr val="3334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3255264" y="3520440"/>
            <a:ext cx="164592" cy="164592"/>
          </a:xfrm>
          <a:prstGeom prst="rtTriangle">
            <a:avLst/>
          </a:prstGeom>
          <a:solidFill>
            <a:srgbClr val="33343B"/>
          </a:solidFill>
          <a:ln w="12700">
            <a:solidFill>
              <a:srgbClr val="3334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0" y="2423160"/>
            <a:ext cx="2560320" cy="2377440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2606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-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3657600" y="3630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step.2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0" y="3867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657600" y="4251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yourself, add an optional note, confirm.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61888" y="3611880"/>
            <a:ext cx="237744" cy="0"/>
          </a:xfrm>
          <a:prstGeom prst="line">
            <a:avLst/>
          </a:prstGeom>
          <a:noFill/>
          <a:ln w="12700">
            <a:solidFill>
              <a:srgbClr val="3334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5400000">
            <a:off x="6089904" y="3520440"/>
            <a:ext cx="164592" cy="164592"/>
          </a:xfrm>
          <a:prstGeom prst="rtTriangle">
            <a:avLst/>
          </a:prstGeom>
          <a:solidFill>
            <a:srgbClr val="33343B"/>
          </a:solidFill>
          <a:ln w="12700">
            <a:solidFill>
              <a:srgbClr val="3334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2423160"/>
            <a:ext cx="2560320" cy="2377440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2606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-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600" dirty="0"/>
          </a:p>
        </p:txBody>
      </p:sp>
      <p:sp>
        <p:nvSpPr>
          <p:cNvPr id="26" name="Text 24"/>
          <p:cNvSpPr/>
          <p:nvPr/>
        </p:nvSpPr>
        <p:spPr>
          <a:xfrm>
            <a:off x="6492240" y="3630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step.3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92240" y="3867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92240" y="4251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flips to CHECKED_OUT for the whole team.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796528" y="3611880"/>
            <a:ext cx="237744" cy="0"/>
          </a:xfrm>
          <a:prstGeom prst="line">
            <a:avLst/>
          </a:prstGeom>
          <a:noFill/>
          <a:ln w="12700">
            <a:solidFill>
              <a:srgbClr val="3334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5400000">
            <a:off x="8924544" y="3520440"/>
            <a:ext cx="164592" cy="164592"/>
          </a:xfrm>
          <a:prstGeom prst="rtTriangle">
            <a:avLst/>
          </a:prstGeom>
          <a:solidFill>
            <a:srgbClr val="33343B"/>
          </a:solidFill>
          <a:ln w="12700">
            <a:solidFill>
              <a:srgbClr val="3334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52560" y="2423160"/>
            <a:ext cx="2560320" cy="2377440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81160" y="2606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-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600" dirty="0"/>
          </a:p>
        </p:txBody>
      </p:sp>
      <p:sp>
        <p:nvSpPr>
          <p:cNvPr id="33" name="Text 31"/>
          <p:cNvSpPr/>
          <p:nvPr/>
        </p:nvSpPr>
        <p:spPr>
          <a:xfrm>
            <a:off x="9326880" y="3630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step.4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326880" y="3867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326880" y="4251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return, note condition, flag damage if any.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A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Average: ~12 seconds end-to-end on a phone. No login wall, no install.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20040" cy="320040"/>
          </a:xfrm>
          <a:prstGeom prst="rect">
            <a:avLst/>
          </a:prstGeom>
          <a:solidFill>
            <a:srgbClr val="1E3A8A">
              <a:alpha val="25000"/>
            </a:srgbClr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2813" y="471373"/>
            <a:ext cx="108814" cy="10881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data model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tables. That’s the whole app.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6350">
            <a:solidFill>
              <a:srgbClr val="2627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A5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asset-tracker · portfolio showcase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331720"/>
            <a:ext cx="3383280" cy="3291840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331720"/>
            <a:ext cx="3383280" cy="731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5603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table.tool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788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77240" y="3310128"/>
            <a:ext cx="2834640" cy="0"/>
          </a:xfrm>
          <a:prstGeom prst="line">
            <a:avLst/>
          </a:prstGeom>
          <a:noFill/>
          <a:ln w="6350">
            <a:solidFill>
              <a:srgbClr val="2627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4290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6301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  </a:t>
            </a:r>
            <a:pPr indent="0" marL="0">
              <a:buNone/>
            </a:pPr>
            <a:r>
              <a:rPr lang="en-US" sz="900" i="1" dirty="0">
                <a:solidFill>
                  <a:srgbClr val="5A5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cuid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39319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· category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1330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44348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46360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  </a:t>
            </a:r>
            <a:pPr indent="0" marL="0">
              <a:buNone/>
            </a:pPr>
            <a:r>
              <a:rPr lang="en-US" sz="900" i="1" dirty="0">
                <a:solidFill>
                  <a:srgbClr val="5A5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 · CHECKED_OUT · MAINTENANCE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49377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photoUrl · location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51389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String?</a:t>
            </a:r>
            <a:pPr indent="0" marL="0">
              <a:buNone/>
            </a:pP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389120" y="2331720"/>
            <a:ext cx="3383280" cy="3291840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2331720"/>
            <a:ext cx="33832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5603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table.checkout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63440" y="2788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4663440" y="3310128"/>
            <a:ext cx="2834640" cy="0"/>
          </a:xfrm>
          <a:prstGeom prst="line">
            <a:avLst/>
          </a:prstGeom>
          <a:noFill/>
          <a:ln w="6350">
            <a:solidFill>
              <a:srgbClr val="2627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4290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36301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  </a:t>
            </a:r>
            <a:pPr indent="0" marL="0">
              <a:buNone/>
            </a:pPr>
            <a:r>
              <a:rPr lang="en-US" sz="900" i="1" dirty="0">
                <a:solidFill>
                  <a:srgbClr val="5A5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cuid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63440" y="39319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toolId → memberId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3440" y="41330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 </a:t>
            </a:r>
            <a:pPr indent="0" marL="0">
              <a:buNone/>
            </a:pPr>
            <a:r>
              <a:rPr lang="en-US" sz="900" i="1" dirty="0">
                <a:solidFill>
                  <a:srgbClr val="5A5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joins both sides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63440" y="44348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checkedOutAt · returnedAt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63440" y="46360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pPr indent="0" marL="0">
              <a:buNone/>
            </a:pP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63440" y="49377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damageReported · returnCondition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63440" y="51389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· String?</a:t>
            </a:r>
            <a:pPr indent="0" marL="0">
              <a:buNone/>
            </a:pP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275320" y="2331720"/>
            <a:ext cx="3383280" cy="3291840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75320" y="2331720"/>
            <a:ext cx="33832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49640" y="25603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table.member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549640" y="2788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8549640" y="3310128"/>
            <a:ext cx="2834640" cy="0"/>
          </a:xfrm>
          <a:prstGeom prst="line">
            <a:avLst/>
          </a:prstGeom>
          <a:noFill/>
          <a:ln w="6350">
            <a:solidFill>
              <a:srgbClr val="2627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49640" y="34290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549640" y="36301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  </a:t>
            </a:r>
            <a:pPr indent="0" marL="0">
              <a:buNone/>
            </a:pPr>
            <a:r>
              <a:rPr lang="en-US" sz="900" i="1" dirty="0">
                <a:solidFill>
                  <a:srgbClr val="5A5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cuid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549640" y="39319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549640" y="41330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549640" y="44348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549640" y="46360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pPr indent="0" marL="0">
              <a:buNone/>
            </a:pP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549640" y="49377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checkouts[]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549640" y="51389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→ many   </a:t>
            </a:r>
            <a:pPr indent="0" marL="0">
              <a:buNone/>
            </a:pPr>
            <a:r>
              <a:rPr lang="en-US" sz="900" i="1" dirty="0">
                <a:solidFill>
                  <a:srgbClr val="5A5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per person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194560" y="5760720"/>
            <a:ext cx="3886200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2194560" y="58338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:  many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080760" y="5760720"/>
            <a:ext cx="388620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</p:sp>
      <p:sp>
        <p:nvSpPr>
          <p:cNvPr id="52" name="Text 50"/>
          <p:cNvSpPr/>
          <p:nvPr/>
        </p:nvSpPr>
        <p:spPr>
          <a:xfrm>
            <a:off x="6080760" y="58338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many  :  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20040" cy="320040"/>
          </a:xfrm>
          <a:prstGeom prst="rect">
            <a:avLst/>
          </a:prstGeom>
          <a:solidFill>
            <a:srgbClr val="1E3A8A">
              <a:alpha val="25000"/>
            </a:srgbClr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2813" y="471373"/>
            <a:ext cx="108814" cy="10881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insights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&amp; loan analytics.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6350">
            <a:solidFill>
              <a:srgbClr val="2627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A5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asset-tracker · portfolio showcase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1737360" cy="868680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94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STOCK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2423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359152" y="2148840"/>
            <a:ext cx="1737360" cy="868680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42032" y="228600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88336" y="2194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42032" y="2423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261104" y="2148840"/>
            <a:ext cx="1737360" cy="868680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43984" y="22860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0288" y="2194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LOANED OUT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443984" y="2423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6163056" y="2148840"/>
            <a:ext cx="1737360" cy="868680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45936" y="2286000"/>
            <a:ext cx="91440" cy="91440"/>
          </a:xfrm>
          <a:prstGeom prst="ellipse">
            <a:avLst/>
          </a:prstGeom>
          <a:solidFill>
            <a:srgbClr val="71717A"/>
          </a:solidFill>
          <a:ln w="12700">
            <a:solidFill>
              <a:srgbClr val="7171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2194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MAINTENANCE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45936" y="2423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8065008" y="2148840"/>
            <a:ext cx="1737360" cy="868680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47888" y="228600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94192" y="2194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OVERDUE · &gt;7D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247888" y="2423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9966960" y="2148840"/>
            <a:ext cx="1737360" cy="868680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49840" y="228600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96144" y="2194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CHECKOUTS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149840" y="2423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457200" y="3246120"/>
            <a:ext cx="4114800" cy="3017520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383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status.breakdown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" y="3584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inventory by status</a:t>
            </a:r>
            <a:endParaRPr lang="en-US" sz="1000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548640" y="3840480"/>
          <a:ext cx="39319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7" name="Shape 34"/>
          <p:cNvSpPr/>
          <p:nvPr/>
        </p:nvSpPr>
        <p:spPr>
          <a:xfrm>
            <a:off x="4709160" y="3246120"/>
            <a:ext cx="6995160" cy="3017520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892040" y="3383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activity.daily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892040" y="35844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Checkouts opened per day · last 14d</a:t>
            </a:r>
            <a:endParaRPr lang="en-US" sz="1000" dirty="0"/>
          </a:p>
        </p:txBody>
      </p:sp>
      <p:graphicFrame>
        <p:nvGraphicFramePr>
          <p:cNvPr id="40" name="Chart 1" descr=""/>
          <p:cNvGraphicFramePr/>
          <p:nvPr/>
        </p:nvGraphicFramePr>
        <p:xfrm>
          <a:off x="4754880" y="3840480"/>
          <a:ext cx="69037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20040" cy="320040"/>
          </a:xfrm>
          <a:prstGeom prst="rect">
            <a:avLst/>
          </a:prstGeom>
          <a:solidFill>
            <a:srgbClr val="1E3A8A">
              <a:alpha val="25000"/>
            </a:srgbClr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2813" y="471373"/>
            <a:ext cx="108814" cy="10881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stack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minimal, local-first.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6350">
            <a:solidFill>
              <a:srgbClr val="2627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A5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asset-tracker · portfolio showcase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2660904" cy="2276856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03120"/>
            <a:ext cx="4572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31720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260604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5800" y="3200400"/>
            <a:ext cx="220370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Router, server actions, async params, route handlers.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19272" y="2103120"/>
            <a:ext cx="2660904" cy="2276856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19272" y="2103120"/>
            <a:ext cx="4572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7872" y="2331720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47872" y="260604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547872" y="3200400"/>
            <a:ext cx="220370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components, transitions, the new use() hook.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81344" y="2103120"/>
            <a:ext cx="2660904" cy="2276856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81344" y="2103120"/>
            <a:ext cx="4572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9944" y="2331720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9944" y="260604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v4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09944" y="3200400"/>
            <a:ext cx="220370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@theme inline tokens, dark variant, mono numerics.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43416" y="2103120"/>
            <a:ext cx="2660904" cy="2276856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43416" y="2103120"/>
            <a:ext cx="4572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72016" y="2331720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272016" y="260604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7 + SQLite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272016" y="3200400"/>
            <a:ext cx="220370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better-sqlite3 adapter, single-file DB, fast migrations.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581144"/>
            <a:ext cx="2660904" cy="2276856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581144"/>
            <a:ext cx="4572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809744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5800" y="5084064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85800" y="5678424"/>
            <a:ext cx="220370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Donut, stacked bar, daily activity, top borrowers.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19272" y="4581144"/>
            <a:ext cx="2660904" cy="2276856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19272" y="4581144"/>
            <a:ext cx="4572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47872" y="4809744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547872" y="5084064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html5-qrcode + qrcode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3547872" y="5678424"/>
            <a:ext cx="220370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In-browser camera scanning + label generation.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81344" y="4581144"/>
            <a:ext cx="2660904" cy="2276856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81344" y="4581144"/>
            <a:ext cx="4572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9944" y="4809744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PERSISTENCE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09944" y="5084064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6409944" y="5678424"/>
            <a:ext cx="220370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dev.db file. No external services. Owns its data.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043416" y="4581144"/>
            <a:ext cx="2660904" cy="2276856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43416" y="4581144"/>
            <a:ext cx="4572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72016" y="4809744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272016" y="5084064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9272016" y="5678424"/>
            <a:ext cx="220370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mode, generated Prisma types.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20040" cy="320040"/>
          </a:xfrm>
          <a:prstGeom prst="rect">
            <a:avLst/>
          </a:prstGeom>
          <a:solidFill>
            <a:srgbClr val="1E3A8A">
              <a:alpha val="25000"/>
            </a:srgbClr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2813" y="471373"/>
            <a:ext cx="108814" cy="10881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design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dark, quiet, instrument-panel UI.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6350">
            <a:solidFill>
              <a:srgbClr val="2627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A5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asset-tracker · portfolio showcase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5669280" cy="4023360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31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palette.semantic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5420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for low-light workshops and quick scanning.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1207008" cy="1417320"/>
          </a:xfrm>
          <a:prstGeom prst="rect">
            <a:avLst/>
          </a:prstGeom>
          <a:solidFill>
            <a:srgbClr val="08080A"/>
          </a:solidFill>
          <a:ln w="6350">
            <a:solidFill>
              <a:srgbClr val="3334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7033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9808" y="395935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#08080A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956816" y="2926080"/>
            <a:ext cx="1207008" cy="1417320"/>
          </a:xfrm>
          <a:prstGeom prst="rect">
            <a:avLst/>
          </a:prstGeom>
          <a:solidFill>
            <a:srgbClr val="16161A"/>
          </a:solidFill>
          <a:ln w="6350">
            <a:solidFill>
              <a:srgbClr val="3334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66544" y="37033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66544" y="395935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#16161A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73552" y="2926080"/>
            <a:ext cx="1207008" cy="1417320"/>
          </a:xfrm>
          <a:prstGeom prst="rect">
            <a:avLst/>
          </a:prstGeom>
          <a:solidFill>
            <a:srgbClr val="26272D"/>
          </a:solidFill>
          <a:ln w="6350">
            <a:solidFill>
              <a:srgbClr val="3334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7033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0" y="395935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#26272D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90288" y="2926080"/>
            <a:ext cx="1207008" cy="1417320"/>
          </a:xfrm>
          <a:prstGeom prst="rect">
            <a:avLst/>
          </a:prstGeom>
          <a:solidFill>
            <a:srgbClr val="3B82F6"/>
          </a:solidFill>
          <a:ln w="6350">
            <a:solidFill>
              <a:srgbClr val="3334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0016" y="37033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00016" y="395935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#3B82F6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0080" y="4453128"/>
            <a:ext cx="1207008" cy="1417320"/>
          </a:xfrm>
          <a:prstGeom prst="rect">
            <a:avLst/>
          </a:prstGeom>
          <a:solidFill>
            <a:srgbClr val="10B981"/>
          </a:solidFill>
          <a:ln w="6350">
            <a:solidFill>
              <a:srgbClr val="3334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523036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808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emerald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9808" y="548640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808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#10B981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956816" y="4453128"/>
            <a:ext cx="1207008" cy="1417320"/>
          </a:xfrm>
          <a:prstGeom prst="rect">
            <a:avLst/>
          </a:prstGeom>
          <a:solidFill>
            <a:srgbClr val="F59E0B"/>
          </a:solidFill>
          <a:ln w="6350">
            <a:solidFill>
              <a:srgbClr val="3334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66544" y="523036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808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amber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66544" y="548640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808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#F59E0B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73552" y="4453128"/>
            <a:ext cx="1207008" cy="1417320"/>
          </a:xfrm>
          <a:prstGeom prst="rect">
            <a:avLst/>
          </a:prstGeom>
          <a:solidFill>
            <a:srgbClr val="EF4444"/>
          </a:solidFill>
          <a:ln w="6350">
            <a:solidFill>
              <a:srgbClr val="3334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523036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83280" y="548640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#EF4444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90288" y="4453128"/>
            <a:ext cx="1207008" cy="1417320"/>
          </a:xfrm>
          <a:prstGeom prst="rect">
            <a:avLst/>
          </a:prstGeom>
          <a:solidFill>
            <a:srgbClr val="8A8A93"/>
          </a:solidFill>
          <a:ln w="6350">
            <a:solidFill>
              <a:srgbClr val="3334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0016" y="523036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808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00016" y="548640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808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#8A8A93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309360" y="2194560"/>
            <a:ext cx="5394960" cy="4023360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23317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typography &amp; motifs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5420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Geist Sans + Geist Mono. Status dots. Mono kickers.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492240" y="2926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3600" dirty="0"/>
          </a:p>
        </p:txBody>
      </p:sp>
      <p:sp>
        <p:nvSpPr>
          <p:cNvPr id="41" name="Text 39"/>
          <p:cNvSpPr/>
          <p:nvPr/>
        </p:nvSpPr>
        <p:spPr>
          <a:xfrm>
            <a:off x="6492240" y="35844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tools.list  ·  H1 / Geist Sans 30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92240" y="3931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DeWalt 20V Cordless Drill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92240" y="4251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 Tools  ·  Cabinet B1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92240" y="4709160"/>
            <a:ext cx="1417320" cy="365760"/>
          </a:xfrm>
          <a:prstGeom prst="rect">
            <a:avLst/>
          </a:prstGeom>
          <a:solidFill>
            <a:srgbClr val="16161A"/>
          </a:solidFill>
          <a:ln w="7620">
            <a:solidFill>
              <a:srgbClr val="26272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01968" y="483717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66560" y="4709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pPr indent="0" marL="0">
              <a:buNone/>
            </a:pPr>
            <a:r>
              <a:rPr lang="en-US" sz="900" spc="200" kern="0" dirty="0">
                <a:solidFill>
                  <a:srgbClr val="8A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AVAIL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001000" y="4709160"/>
            <a:ext cx="1417320" cy="365760"/>
          </a:xfrm>
          <a:prstGeom prst="rect">
            <a:avLst/>
          </a:prstGeom>
          <a:solidFill>
            <a:srgbClr val="16161A"/>
          </a:solidFill>
          <a:ln w="7620">
            <a:solidFill>
              <a:srgbClr val="26272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10728" y="483717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75320" y="4709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buNone/>
            </a:pPr>
            <a:r>
              <a:rPr lang="en-US" sz="900" spc="200" kern="0" dirty="0">
                <a:solidFill>
                  <a:srgbClr val="8A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OUT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509760" y="4709160"/>
            <a:ext cx="1417320" cy="365760"/>
          </a:xfrm>
          <a:prstGeom prst="rect">
            <a:avLst/>
          </a:prstGeom>
          <a:solidFill>
            <a:srgbClr val="16161A"/>
          </a:solidFill>
          <a:ln w="7620">
            <a:solidFill>
              <a:srgbClr val="26272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619488" y="4837176"/>
            <a:ext cx="109728" cy="109728"/>
          </a:xfrm>
          <a:prstGeom prst="ellipse">
            <a:avLst/>
          </a:prstGeom>
          <a:solidFill>
            <a:srgbClr val="71717A"/>
          </a:solidFill>
          <a:ln w="12700">
            <a:solidFill>
              <a:srgbClr val="71717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784080" y="4709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900" spc="200" kern="0" dirty="0">
                <a:solidFill>
                  <a:srgbClr val="8A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MAINT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492240" y="53492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“Reads like an instrument panel, not a CRM.”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20040" cy="320040"/>
          </a:xfrm>
          <a:prstGeom prst="rect">
            <a:avLst/>
          </a:prstGeom>
          <a:solidFill>
            <a:srgbClr val="1E3A8A">
              <a:alpha val="25000"/>
            </a:srgbClr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2813" y="471373"/>
            <a:ext cx="108814" cy="10881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roadmap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 on the bench.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6350">
            <a:solidFill>
              <a:srgbClr val="2627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A5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asset-tracker · portfolio showcase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2194560"/>
            <a:ext cx="3657600" cy="4114800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194560"/>
            <a:ext cx="36576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23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shipped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651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94360" y="3218688"/>
            <a:ext cx="3108960" cy="0"/>
          </a:xfrm>
          <a:prstGeom prst="line">
            <a:avLst/>
          </a:prstGeom>
          <a:noFill/>
          <a:ln w="6350">
            <a:solidFill>
              <a:srgbClr val="2627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493008"/>
            <a:ext cx="731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383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+ photos + filters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950208"/>
            <a:ext cx="731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840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labels and phone scanner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407408"/>
            <a:ext cx="731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297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/ return + overdue logic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864608"/>
            <a:ext cx="731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754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dashboard with 4 charts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321808"/>
            <a:ext cx="731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212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member picker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51960" y="2194560"/>
            <a:ext cx="3657600" cy="4114800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51960" y="2194560"/>
            <a:ext cx="36576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2423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in-flight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26280" y="2651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4526280" y="3218688"/>
            <a:ext cx="3108960" cy="0"/>
          </a:xfrm>
          <a:prstGeom prst="line">
            <a:avLst/>
          </a:prstGeom>
          <a:noFill/>
          <a:ln w="6350">
            <a:solidFill>
              <a:srgbClr val="26272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3493008"/>
            <a:ext cx="731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383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scheduler with reminders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0" y="3950208"/>
            <a:ext cx="731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840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Per-tool history timeline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0" y="4407408"/>
            <a:ext cx="731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4297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for inventory &amp; history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0" y="4864608"/>
            <a:ext cx="731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4754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when overdue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183880" y="2194560"/>
            <a:ext cx="3657600" cy="4114800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83880" y="2194560"/>
            <a:ext cx="3657600" cy="731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58200" y="2423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458200" y="2651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2400" dirty="0"/>
          </a:p>
        </p:txBody>
      </p:sp>
      <p:sp>
        <p:nvSpPr>
          <p:cNvPr id="42" name="Shape 40"/>
          <p:cNvSpPr/>
          <p:nvPr/>
        </p:nvSpPr>
        <p:spPr>
          <a:xfrm>
            <a:off x="8458200" y="3218688"/>
            <a:ext cx="3108960" cy="0"/>
          </a:xfrm>
          <a:prstGeom prst="line">
            <a:avLst/>
          </a:prstGeom>
          <a:noFill/>
          <a:ln w="6350">
            <a:solidFill>
              <a:srgbClr val="26272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03920" y="3493008"/>
            <a:ext cx="73152" cy="731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0" y="3383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 / locations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503920" y="3950208"/>
            <a:ext cx="73152" cy="731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0" y="3840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 bundle + auth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503920" y="4407408"/>
            <a:ext cx="73152" cy="731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86800" y="4297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PWA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503920" y="4864608"/>
            <a:ext cx="73152" cy="731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86800" y="4754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integrations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3840480"/>
            <a:ext cx="5943600" cy="594360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389120"/>
            <a:ext cx="4572000" cy="45720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97880" y="1645920"/>
            <a:ext cx="457200" cy="457200"/>
          </a:xfrm>
          <a:prstGeom prst="rect">
            <a:avLst/>
          </a:prstGeom>
          <a:solidFill>
            <a:srgbClr val="1E3A8A">
              <a:alpha val="25000"/>
            </a:srgbClr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48756" y="1796796"/>
            <a:ext cx="155448" cy="1554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23317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6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thanks for looking.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0" y="2788920"/>
            <a:ext cx="12161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spc="-200" kern="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Tracker.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local-first inventory app that respects your shop, your data and your time.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88720" y="5212080"/>
            <a:ext cx="3108960" cy="640080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5458968"/>
            <a:ext cx="146304" cy="14630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5212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 </a:t>
            </a:r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/Asset Tracking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26280" y="5212080"/>
            <a:ext cx="3108960" cy="640080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27448" y="5458968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5212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  </a:t>
            </a:r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· Prisma · SQLite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863840" y="5212080"/>
            <a:ext cx="3108960" cy="640080"/>
          </a:xfrm>
          <a:prstGeom prst="rect">
            <a:avLst/>
          </a:prstGeom>
          <a:solidFill>
            <a:srgbClr val="111114"/>
          </a:solidFill>
          <a:ln w="9525">
            <a:solidFill>
              <a:srgbClr val="2627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5008" y="54589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5212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LICENSE  </a:t>
            </a:r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0" y="6263640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5A5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Prakash Gurung  ·  kash_1749@hotmail.com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Asset Tracker — Portfolio Showcase</dc:title>
  <dc:subject>PptxGenJS Presentation</dc:subject>
  <dc:creator>Prakash Gurung</dc:creator>
  <cp:lastModifiedBy>Prakash Gurung</cp:lastModifiedBy>
  <cp:revision>1</cp:revision>
  <dcterms:created xsi:type="dcterms:W3CDTF">2026-05-19T13:57:28Z</dcterms:created>
  <dcterms:modified xsi:type="dcterms:W3CDTF">2026-05-19T13:57:28Z</dcterms:modified>
</cp:coreProperties>
</file>